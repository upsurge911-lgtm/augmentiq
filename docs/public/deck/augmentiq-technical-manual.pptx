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5FFF"/>
                </a:solidFill>
                <a:latin typeface="Menlo"/>
              </a:rPr>
              <a:t>Technical Manual · v0.1 ·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6400" b="1">
                <a:solidFill>
                  <a:srgbClr val="0D1117"/>
                </a:solidFill>
                <a:latin typeface="Helvetica Neue"/>
              </a:rPr>
              <a:t>AugmentiQ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2316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4A5462"/>
                </a:solidFill>
                <a:latin typeface="Helvetica Neue"/>
              </a:rPr>
              <a:t>Persistent memory for AI agents,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A5462"/>
                </a:solidFill>
                <a:latin typeface="Helvetica Neue"/>
              </a:rPr>
              <a:t>living in your Obsidian vault.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4A5462"/>
                </a:solidFill>
                <a:latin typeface="Helvetica Neue"/>
              </a:rPr>
              <a:t>Local. Auditable. Yours.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977639"/>
            <a:ext cx="10634472" cy="17780"/>
          </a:xfrm>
          <a:prstGeom prst="rect">
            <a:avLst/>
          </a:prstGeom>
          <a:solidFill>
            <a:srgbClr val="DF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29768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B5FFF"/>
                </a:solidFill>
                <a:latin typeface="Menlo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D1117"/>
                </a:solidFill>
                <a:latin typeface="Helvetica Neue"/>
              </a:rPr>
              <a:t>shipped artifacts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4924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B98A5"/>
                </a:solidFill>
                <a:latin typeface="Helvetica Neue"/>
              </a:rPr>
              <a:t>vault plugin · host bridge · skill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429768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B5FFF"/>
                </a:solidFill>
                <a:latin typeface="Menlo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5074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D1117"/>
                </a:solidFill>
                <a:latin typeface="Helvetica Neue"/>
              </a:rPr>
              <a:t>MCP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534924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B98A5"/>
                </a:solidFill>
                <a:latin typeface="Helvetica Neue"/>
              </a:rPr>
              <a:t>5 governance · 5 consumer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429768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B5FFF"/>
                </a:solidFill>
                <a:latin typeface="Menlo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507492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D1117"/>
                </a:solidFill>
                <a:latin typeface="Helvetica Neue"/>
              </a:rPr>
              <a:t>supported hosts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534924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B98A5"/>
                </a:solidFill>
                <a:latin typeface="Helvetica Neue"/>
              </a:rPr>
              <a:t>Hermes · OpenClaw · Claude · Codex · Cursor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8A5"/>
                </a:solidFill>
                <a:latin typeface="Menlo"/>
              </a:rPr>
              <a:t>Upsurge · upsurge.ai/augmentiq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5FFF"/>
                </a:solidFill>
                <a:latin typeface="Menlo"/>
              </a:rPr>
              <a:t>Start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D1117"/>
                </a:solidFill>
                <a:latin typeface="Helvetica Neue"/>
              </a:rPr>
              <a:t>Three artifacts, three layers —</a:t>
            </a:r>
          </a:p>
          <a:p>
            <a:pPr algn="l">
              <a:spcAft>
                <a:spcPts val="600"/>
              </a:spcAft>
            </a:pPr>
            <a:r>
              <a:rPr sz="3400" b="1">
                <a:solidFill>
                  <a:srgbClr val="0D1117"/>
                </a:solidFill>
                <a:latin typeface="Helvetica Neue"/>
              </a:rPr>
              <a:t>and only one of them is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A5462"/>
                </a:solidFill>
                <a:latin typeface="Helvetica Neue"/>
              </a:rPr>
              <a:t>It is tempting to call AugmentiQ “a skill, an OpenClaw plugin, and an Obsidian plugin.” Accurate, but misleading: only the vault plugin is the product. The other two exist to connect it to a host.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246120"/>
            <a:ext cx="3200400" cy="1737360"/>
          </a:xfrm>
          <a:prstGeom prst="rect">
            <a:avLst/>
          </a:prstGeom>
          <a:solidFill>
            <a:srgbClr val="FFFFFF"/>
          </a:solidFill>
          <a:ln w="31750">
            <a:solidFill>
              <a:srgbClr val="0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342900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5FFF"/>
                </a:solidFill>
                <a:latin typeface="Helvetica Neue"/>
              </a:rPr>
              <a:t>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84048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462"/>
                </a:solidFill>
                <a:latin typeface="Helvetica Neue"/>
              </a:rPr>
              <a:t>Governance playbook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462"/>
                </a:solidFill>
                <a:latin typeface="Helvetica Neue"/>
              </a:rPr>
              <a:t>SKILL.md + 22 refs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462"/>
                </a:solidFill>
                <a:latin typeface="Helvetica Neue"/>
              </a:rPr>
              <a:t>host-agnostic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79" y="3246120"/>
            <a:ext cx="3200400" cy="1737360"/>
          </a:xfrm>
          <a:prstGeom prst="rect">
            <a:avLst/>
          </a:prstGeom>
          <a:solidFill>
            <a:srgbClr val="FFFFFF"/>
          </a:solidFill>
          <a:ln w="3175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7" y="342900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9D58"/>
                </a:solidFill>
                <a:latin typeface="Helvetica Neue"/>
              </a:rPr>
              <a:t>OpenClaw plugin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7" y="384048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462"/>
                </a:solidFill>
                <a:latin typeface="Helvetica Neue"/>
              </a:rPr>
              <a:t>Native tool bridge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462"/>
                </a:solidFill>
                <a:latin typeface="Helvetica Neue"/>
              </a:rPr>
              <a:t>6 tools → HTTP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462"/>
                </a:solidFill>
                <a:latin typeface="Helvetica Neue"/>
              </a:rPr>
              <a:t>convenience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19" y="3246120"/>
            <a:ext cx="3200400" cy="1737360"/>
          </a:xfrm>
          <a:prstGeom prst="rect">
            <a:avLst/>
          </a:prstGeom>
          <a:solidFill>
            <a:srgbClr val="FFFFFF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342900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7C3AED"/>
                </a:solidFill>
                <a:latin typeface="Helvetica Neue"/>
              </a:rPr>
              <a:t>Obsidian plugin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384048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462"/>
                </a:solidFill>
                <a:latin typeface="Helvetica Neue"/>
              </a:rPr>
              <a:t>THE PRODUCT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462"/>
                </a:solidFill>
                <a:latin typeface="Helvetica Neue"/>
              </a:rPr>
              <a:t>server · store · audit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462"/>
                </a:solidFill>
                <a:latin typeface="Helvetica Neue"/>
              </a:rPr>
              <a:t>10 tools, 1 install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94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462"/>
                </a:solidFill>
                <a:latin typeface="Helvetica Neue"/>
              </a:rPr>
              <a:t>Remove the Obsidian plugin and there is nowhere to store a memory. Remove either adapter and it still works — just less conveniently. That dependency arrow is the whole architecture.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8A5"/>
                </a:solidFill>
                <a:latin typeface="Menlo"/>
              </a:rPr>
              <a:t>Upsurge · upsurge.ai/augmentiq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5FFF"/>
                </a:solidFill>
                <a:latin typeface="Menlo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D1117"/>
                </a:solidFill>
                <a:latin typeface="Helvetica Neue"/>
              </a:rPr>
              <a:t>The whole system on one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148840"/>
            <a:ext cx="242316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286000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B5FFF"/>
                </a:solidFill>
                <a:latin typeface="Helvetica Neue"/>
              </a:rPr>
              <a:t>Host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65176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4A5462"/>
                </a:solidFill>
                <a:latin typeface="Helvetica Neue"/>
              </a:rPr>
              <a:t>Hermes · OpenClaw · Claude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4A5462"/>
                </a:solidFill>
                <a:latin typeface="Helvetica Neue"/>
              </a:rPr>
              <a:t>Codex · Cursor · nanobot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8" y="27432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B98A5"/>
                </a:solidFill>
                <a:latin typeface="Helvetica Neue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148840"/>
            <a:ext cx="242316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0752" y="2286000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B5FFF"/>
                </a:solidFill>
                <a:latin typeface="Helvetica Neue"/>
              </a:rPr>
              <a:t>Skill +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0752" y="265176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4A5462"/>
                </a:solidFill>
                <a:latin typeface="Helvetica Neue"/>
              </a:rPr>
              <a:t>forms records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4A5462"/>
                </a:solidFill>
                <a:latin typeface="Helvetica Neue"/>
              </a:rPr>
              <a:t>enforces principles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1888" y="27432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B98A5"/>
                </a:solidFill>
                <a:latin typeface="Helvetica Neue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79" y="2148840"/>
            <a:ext cx="242316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1" y="2286000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Helvetica Neue"/>
              </a:rPr>
              <a:t>MCP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1" y="265176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4A5462"/>
                </a:solidFill>
                <a:latin typeface="Helvetica Neue"/>
              </a:rPr>
              <a:t>127.0.0.1:3710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4A5462"/>
                </a:solidFill>
                <a:latin typeface="Helvetica Neue"/>
              </a:rPr>
              <a:t>bearer · stateless HTTP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808" y="274320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8B98A5"/>
                </a:solidFill>
                <a:latin typeface="Helvetica Neue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3999" y="2148840"/>
            <a:ext cx="242316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1" y="2286000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7C3AED"/>
                </a:solidFill>
                <a:latin typeface="Helvetica Neue"/>
              </a:rPr>
              <a:t>Vault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1" y="265176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4A5462"/>
                </a:solidFill>
                <a:latin typeface="Helvetica Neue"/>
              </a:rPr>
              <a:t>.augmentiq/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4A5462"/>
                </a:solidFill>
                <a:latin typeface="Helvetica Neue"/>
              </a:rPr>
              <a:t>records + audit chain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77240" y="4114800"/>
          <a:ext cx="1060703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9971"/>
                <a:gridCol w="763706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D1117"/>
                          </a:solidFill>
                          <a:latin typeface="Helvetica Neue"/>
                        </a:rPr>
                        <a:t>Boundary</a:t>
                      </a:r>
                    </a:p>
                  </a:txBody>
                  <a:tcPr marL="73152" marR="73152" marT="45720" marB="45720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D1117"/>
                          </a:solidFill>
                          <a:latin typeface="Helvetica Neue"/>
                        </a:rPr>
                        <a:t>What crosses it</a:t>
                      </a:r>
                    </a:p>
                  </a:txBody>
                  <a:tcPr marL="73152" marR="73152" marT="45720" marB="45720"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D1117"/>
                          </a:solidFill>
                          <a:latin typeface="Helvetica Neue"/>
                        </a:rPr>
                        <a:t>Host → Skill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462"/>
                          </a:solidFill>
                          <a:latin typeface="Helvetica Neue"/>
                        </a:rPr>
                        <a:t>User intent: /augmentiq save … or natural language on hosts without slash commands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D1117"/>
                          </a:solidFill>
                          <a:latin typeface="Helvetica Neue"/>
                        </a:rPr>
                        <a:t>Skill → Server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462"/>
                          </a:solidFill>
                          <a:latin typeface="Helvetica Neue"/>
                        </a:rPr>
                        <a:t>JSON-RPC 2.0 tools/call over HTTP, one bearer token, loopback only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D1117"/>
                          </a:solidFill>
                          <a:latin typeface="Helvetica Neue"/>
                        </a:rPr>
                        <a:t>Server → Store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462"/>
                          </a:solidFill>
                          <a:latin typeface="Helvetica Neue"/>
                        </a:rPr>
                        <a:t>Append memories.jsonl; append hash-chained entry to audit.log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462"/>
                </a:solidFill>
                <a:latin typeface="Helvetica Neue"/>
              </a:rPr>
              <a:t>Every arrow is local. There is no cloud call in this diagram — by design, not by configuration.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8A5"/>
                </a:solidFill>
                <a:latin typeface="Menlo"/>
              </a:rPr>
              <a:t>Upsurge · upsurge.ai/augmentiq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5FFF"/>
                </a:solidFill>
                <a:latin typeface="Menlo"/>
              </a:rPr>
              <a:t>Component 1 — 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D1117"/>
                </a:solidFill>
                <a:latin typeface="Helvetica Neue"/>
              </a:rPr>
              <a:t>Obsidian plugin: the server and the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462"/>
                </a:solidFill>
                <a:latin typeface="Helvetica Neue"/>
              </a:rPr>
              <a:t>One install. No Docker, no separate process. Enabling the plugin starts an MCP server inside Obsidian and creates the memory store in the vault.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1546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50">
                <a:solidFill>
                  <a:srgbClr val="4A5462"/>
                </a:solidFill>
                <a:latin typeface="Helvetica Neue"/>
              </a:rPr>
              <a:t>→  Embedded streamable-HTTP MCP server on 127.0.0.1:3710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4A5462"/>
                </a:solidFill>
                <a:latin typeface="Helvetica Neue"/>
              </a:rPr>
              <a:t>→  Bearer token generated on first enable; copy from ribbon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4A5462"/>
                </a:solidFill>
                <a:latin typeface="Helvetica Neue"/>
              </a:rPr>
              <a:t>→  Read-only mode enforced server-side, not by convention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4A5462"/>
                </a:solidFill>
                <a:latin typeface="Helvetica Neue"/>
              </a:rPr>
              <a:t>→  Vault deletes go to system trash — never hard-deleted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4A5462"/>
                </a:solidFill>
                <a:latin typeface="Helvetica Neue"/>
              </a:rPr>
              <a:t>→  Records as Context Records; audit log SHA-256 chained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2286000"/>
          <a:ext cx="507491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479"/>
                <a:gridCol w="37554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D1117"/>
                          </a:solidFill>
                          <a:latin typeface="Helvetica Neue"/>
                        </a:rPr>
                        <a:t>Group</a:t>
                      </a:r>
                    </a:p>
                  </a:txBody>
                  <a:tcPr marL="73152" marR="73152" marT="45720" marB="45720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D1117"/>
                          </a:solidFill>
                          <a:latin typeface="Helvetica Neue"/>
                        </a:rPr>
                        <a:t>Tools</a:t>
                      </a:r>
                    </a:p>
                  </a:txBody>
                  <a:tcPr marL="73152" marR="73152" marT="45720" marB="45720"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D1117"/>
                          </a:solidFill>
                          <a:latin typeface="Helvetica Neue"/>
                        </a:rPr>
                        <a:t>Contract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462"/>
                          </a:solidFill>
                          <a:latin typeface="Helvetica Neue"/>
                        </a:rPr>
                        <a:t>mcp_add_memory · mcp_search_memory
mcp_update_memory · mcp_delete_memory
mcp_get_audit_entry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D1117"/>
                          </a:solidFill>
                          <a:latin typeface="Helvetica Neue"/>
                        </a:rPr>
                        <a:t>Consumer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462"/>
                          </a:solidFill>
                          <a:latin typeface="Helvetica Neue"/>
                        </a:rPr>
                        <a:t>memory · vault · edit
graph · system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4892040"/>
            <a:ext cx="5074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8B98A5"/>
                </a:solidFill>
                <a:latin typeface="Helvetica Neue"/>
              </a:rPr>
              <a:t>The contract group is the stable API the skill depends on. The consumer group is the richer interactive experience.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8A5"/>
                </a:solidFill>
                <a:latin typeface="Menlo"/>
              </a:rPr>
              <a:t>Upsurge · upsurge.ai/augmentiq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5FFF"/>
                </a:solidFill>
                <a:latin typeface="Menlo"/>
              </a:rPr>
              <a:t>Component 1 —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D1117"/>
                </a:solidFill>
                <a:latin typeface="Helvetica Neue"/>
              </a:rPr>
              <a:t>What a memory actually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5212080" cy="3566160"/>
          </a:xfrm>
          <a:prstGeom prst="rect">
            <a:avLst/>
          </a:prstGeom>
          <a:solidFill>
            <a:srgbClr val="0D11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47548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Menlo"/>
              </a:rPr>
              <a:t>// .augmentiq/memories.jsonl — one record per line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Menlo"/>
              </a:rPr>
              <a:t>{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Menlo"/>
              </a:rPr>
              <a:t>  "schema_version": "1.0",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Menlo"/>
              </a:rPr>
              <a:t>  "id": "augmentiq:9c1f…",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Menlo"/>
              </a:rPr>
              <a:t>  "timestamp": "2026-10-24T14:00:00Z",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Menlo"/>
              </a:rPr>
              <a:t>  "scope": "individual",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Menlo"/>
              </a:rPr>
              <a:t>  "source": "chat:session:2026-10-24",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Menlo"/>
              </a:rPr>
              <a:t>  "content": "User prefers concise answers.",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Menlo"/>
              </a:rPr>
              <a:t>  "tags": ["preference","communication"],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Menlo"/>
              </a:rPr>
              <a:t>  "classification": "internal",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Menlo"/>
              </a:rPr>
              <a:t>  "audit_ref": "augmentiq-tl:4e8b…"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2860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D1117"/>
                </a:solidFill>
                <a:latin typeface="Helvetica Neue"/>
              </a:rPr>
              <a:t>Bi-temporal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633472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462"/>
                </a:solidFill>
                <a:latin typeface="Helvetica Neue"/>
              </a:rPr>
              <a:t>timestamp = when the fact happened; recorded_at = when it was stored. Legacy ingest preserves original event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349300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D1117"/>
                </a:solidFill>
                <a:latin typeface="Helvetica Neue"/>
              </a:rPr>
              <a:t>Classified, not just stored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84048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462"/>
                </a:solidFill>
                <a:latin typeface="Helvetica Neue"/>
              </a:rPr>
              <a:t>public / internal / confidential / restricted. A PII match forces at least confidential.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4700016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D1117"/>
                </a:solidFill>
                <a:latin typeface="Helvetica Neue"/>
              </a:rPr>
              <a:t>Audit is not optional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047488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A5462"/>
                </a:solidFill>
                <a:latin typeface="Helvetica Neue"/>
              </a:rPr>
              <a:t>audit_hash = sha256(entry), chained onto previous_hash. That makes it tamper-evident, not merely present.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8A5"/>
                </a:solidFill>
                <a:latin typeface="Menlo"/>
              </a:rPr>
              <a:t>Upsurge · upsurge.ai/augmentiq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5FFF"/>
                </a:solidFill>
                <a:latin typeface="Menlo"/>
              </a:rPr>
              <a:t>Component 2 — the adapter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D1117"/>
                </a:solidFill>
                <a:latin typeface="Helvetica Neue"/>
              </a:rPr>
              <a:t>OpenClaw plugin: native tools, no shelling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A5462"/>
                </a:solidFill>
                <a:latin typeface="Helvetica Neue"/>
              </a:rPr>
              <a:t>Without it, an agent reaches AugmentiQ through mcporter or raw HTTP. With it, the same six operations are first-class tools with typed schemas and friendly errors.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10896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50">
                <a:solidFill>
                  <a:srgbClr val="4A5462"/>
                </a:solidFill>
                <a:latin typeface="Helvetica Neue"/>
              </a:rPr>
              <a:t>→  Built with defineToolPlugin from the OpenClaw plugin SDK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4A5462"/>
                </a:solidFill>
                <a:latin typeface="Helvetica Neue"/>
              </a:rPr>
              <a:t>→  Proxies each call to the vault server over loopback HTTP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4A5462"/>
                </a:solidFill>
                <a:latin typeface="Helvetica Neue"/>
              </a:rPr>
              <a:t>→  Exact contract tool names preserved — skill flows unchanged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4A5462"/>
                </a:solidFill>
                <a:latin typeface="Helvetica Neue"/>
              </a:rPr>
              <a:t>→  Typed errors: server down, 401, not configured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2240280"/>
            <a:ext cx="5074920" cy="1600200"/>
          </a:xfrm>
          <a:prstGeom prst="rect">
            <a:avLst/>
          </a:prstGeom>
          <a:solidFill>
            <a:srgbClr val="0D11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468880"/>
            <a:ext cx="4617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Menlo"/>
              </a:rPr>
              <a:t>// plugins.entries.augmentiq.config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Menlo"/>
              </a:rPr>
              <a:t>{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Menlo"/>
              </a:rPr>
              <a:t>  "token": "&lt;from Obsidian settings&gt;",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Menlo"/>
              </a:rPr>
              <a:t>  "baseUrl": "http://127.0.0.1:3710/mcp"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E6EDF3"/>
                </a:solidFill>
                <a:latin typeface="Menlo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4114800"/>
            <a:ext cx="5074920" cy="13258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4297680"/>
            <a:ext cx="4617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B45309"/>
                </a:solidFill>
                <a:latin typeface="Helvetica Neue"/>
              </a:rPr>
              <a:t>Config accepts a literal string only. SecretRefs resolve for model and provider config, not plugin config objects. A ref here fails validation with “must be string”.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8A5"/>
                </a:solidFill>
                <a:latin typeface="Menlo"/>
              </a:rPr>
              <a:t>Upsurge · upsurge.ai/augmentiq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5FFF"/>
                </a:solidFill>
                <a:latin typeface="Menlo"/>
              </a:rPr>
              <a:t>Component 3 — the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D1117"/>
                </a:solidFill>
                <a:latin typeface="Helvetica Neue"/>
              </a:rPr>
              <a:t>Skill: what to do, in what order, with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4A5462"/>
                </a:solidFill>
                <a:latin typeface="Helvetica Neue"/>
              </a:rPr>
              <a:t>The skill carries no code. It carries judgement: when to remember, when to ask, and which of 26 subcommands maps to which 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17520"/>
            <a:ext cx="3218688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3218688"/>
            <a:ext cx="2779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7C3AED"/>
                </a:solidFill>
                <a:latin typeface="Menlo"/>
              </a:rPr>
              <a:t>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" y="3547872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D1117"/>
                </a:solidFill>
                <a:latin typeface="Helvetica Neue"/>
              </a:rPr>
              <a:t>Portable 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3950208"/>
            <a:ext cx="27797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4A5462"/>
                </a:solidFill>
                <a:latin typeface="Helvetica Neue"/>
              </a:rPr>
              <a:t>SKILL.md under 5k tokens + 22 reference docs. Progressive disclosure: only the body loads until needed.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3017520"/>
            <a:ext cx="3218688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3218688"/>
            <a:ext cx="2779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7C3AED"/>
                </a:solidFill>
                <a:latin typeface="Menlo"/>
              </a:rPr>
              <a:t>REACH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3547872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D1117"/>
                </a:solidFill>
                <a:latin typeface="Helvetica Neue"/>
              </a:rPr>
              <a:t>7 hosts, one package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950208"/>
            <a:ext cx="27797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4A5462"/>
                </a:solidFill>
                <a:latin typeface="Helvetica Neue"/>
              </a:rPr>
              <a:t>Hermes, OpenClaw, Claude Desktop, Claude Code, Codex, Cursor, nanobot — and 30+ agentskills.io hosts.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82712" y="3017520"/>
            <a:ext cx="3218688" cy="2194560"/>
          </a:xfrm>
          <a:prstGeom prst="rect">
            <a:avLst/>
          </a:prstGeom>
          <a:solidFill>
            <a:srgbClr val="FFFFFF"/>
          </a:solidFill>
          <a:ln w="15875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3218688"/>
            <a:ext cx="2779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7C3AED"/>
                </a:solidFill>
                <a:latin typeface="Menlo"/>
              </a:rPr>
              <a:t>RESTRAINT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3547872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D1117"/>
                </a:solidFill>
                <a:latin typeface="Helvetica Neue"/>
              </a:rPr>
              <a:t>5 immutable principles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3950208"/>
            <a:ext cx="277977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4A5462"/>
                </a:solidFill>
                <a:latin typeface="Helvetica Neue"/>
              </a:rPr>
              <a:t>Per-action confirmation · host keeps authority · reversible · confirm before destructive · audit everything.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4A5462"/>
                </a:solidFill>
                <a:latin typeface="Helvetica Neue"/>
              </a:rPr>
              <a:t>The principles are the constitution. Every flow derives from them — which is why the skill can run on an agent you do not fully trust with your vault.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8A5"/>
                </a:solidFill>
                <a:latin typeface="Menlo"/>
              </a:rPr>
              <a:t>Upsurge · upsurge.ai/augmentiq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5FFF"/>
                </a:solidFill>
                <a:latin typeface="Menlo"/>
              </a:rPr>
              <a:t>Runtime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D1117"/>
                </a:solidFill>
                <a:latin typeface="Helvetica Neue"/>
              </a:rPr>
              <a:t>How a turn actually runs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240280"/>
            <a:ext cx="19202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23774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B5FFF"/>
                </a:solidFill>
                <a:latin typeface="Helvetica Neue"/>
              </a:rPr>
              <a:t>1 · Recall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" y="269748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4A5462"/>
                </a:solidFill>
                <a:latin typeface="Helvetica Neue"/>
              </a:rPr>
              <a:t>query store at session 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2990088" y="2240280"/>
            <a:ext cx="19202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2" y="23774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B5FFF"/>
                </a:solidFill>
                <a:latin typeface="Helvetica Neue"/>
              </a:rPr>
              <a:t>2 · Reason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2" y="269748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4A5462"/>
                </a:solidFill>
                <a:latin typeface="Helvetica Neue"/>
              </a:rPr>
              <a:t>deduce · induce · abduce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02936" y="2240280"/>
            <a:ext cx="19202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B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23774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B5FFF"/>
                </a:solidFill>
                <a:latin typeface="Helvetica Neue"/>
              </a:rPr>
              <a:t>3 · Respond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69748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4A5462"/>
                </a:solidFill>
                <a:latin typeface="Helvetica Neue"/>
              </a:rPr>
              <a:t>inform, don't narrate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15783" y="2240280"/>
            <a:ext cx="19202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23774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7C3AED"/>
                </a:solidFill>
                <a:latin typeface="Helvetica Neue"/>
              </a:rPr>
              <a:t>4 ·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2088" y="269748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4A5462"/>
                </a:solidFill>
                <a:latin typeface="Helvetica Neue"/>
              </a:rPr>
              <a:t>3–5 typed memories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28632" y="2240280"/>
            <a:ext cx="19202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74936" y="23774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7C3AED"/>
                </a:solidFill>
                <a:latin typeface="Helvetica Neue"/>
              </a:rPr>
              <a:t>5 · Consolidate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4936" y="269748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4A5462"/>
                </a:solidFill>
                <a:latin typeface="Helvetica Neue"/>
              </a:rPr>
              <a:t>weekly: dedupe, archive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60520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D1117"/>
                </a:solidFill>
                <a:latin typeface="Helvetica Neue"/>
              </a:rPr>
              <a:t>What gets written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71416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4A5462"/>
                </a:solidFill>
                <a:latin typeface="Helvetica Neue"/>
              </a:rPr>
              <a:t>Observation, conclusion, preference, instruction, summary — each with scope, tags, importance 1–5. Target is 3–5 per session, not 30.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12079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D1117"/>
                </a:solidFill>
                <a:latin typeface="Helvetica Neue"/>
              </a:rPr>
              <a:t>What never gets written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22975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4A5462"/>
                </a:solidFill>
                <a:latin typeface="Helvetica Neue"/>
              </a:rPr>
              <a:t>Secrets, API keys, passwords, sensitive PII. The skill instructs refusal; classification upgrades anything PII-adjacent before storage.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8A5"/>
                </a:solidFill>
                <a:latin typeface="Menlo"/>
              </a:rPr>
              <a:t>Upsurge · upsurge.ai/augmentiq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5FFF"/>
                </a:solidFill>
                <a:latin typeface="Menlo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D1117"/>
                </a:solidFill>
                <a:latin typeface="Helvetica Neue"/>
              </a:rPr>
              <a:t>What the customer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148840"/>
            <a:ext cx="10607040" cy="2514600"/>
          </a:xfrm>
          <a:prstGeom prst="rect">
            <a:avLst/>
          </a:prstGeom>
          <a:solidFill>
            <a:srgbClr val="0D11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0149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7EE787"/>
                </a:solidFill>
                <a:latin typeface="Menlo"/>
              </a:rPr>
              <a:t># 1 — the vault gives you the memory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7EE787"/>
                </a:solidFill>
                <a:latin typeface="Menlo"/>
              </a:rPr>
              <a:t>Obsidian → Community plugins → AugmentiQ → Enable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7EE787"/>
                </a:solidFill>
                <a:latin typeface="Menlo"/>
              </a:rPr>
              <a:t>        → copy the bearer token from the ribbon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7EE787"/>
                </a:solidFill>
                <a:latin typeface="Menlo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7EE787"/>
                </a:solidFill>
                <a:latin typeface="Menlo"/>
              </a:rPr>
              <a:t># 2 — the host gets the tools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7EE787"/>
                </a:solidFill>
                <a:latin typeface="Menlo"/>
              </a:rPr>
              <a:t>openclaw plugins install clawhub:upsurge/augmentiq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7EE787"/>
                </a:solidFill>
                <a:latin typeface="Menlo"/>
              </a:rPr>
              <a:t>        → paste the token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7EE787"/>
                </a:solidFill>
                <a:latin typeface="Menlo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7EE787"/>
                </a:solidFill>
                <a:latin typeface="Menlo"/>
              </a:rPr>
              <a:t># 3 — the host gets the judgement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7EE787"/>
                </a:solidFill>
                <a:latin typeface="Menlo"/>
              </a:rPr>
              <a:t>cp -r AugmentiQ/ ~/.openclaw/workspace/skills/augmentiq/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92040"/>
            <a:ext cx="3218688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5093207"/>
            <a:ext cx="2779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B5FFF"/>
                </a:solidFill>
                <a:latin typeface="Menlo"/>
              </a:rPr>
              <a:t>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5422392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D1117"/>
                </a:solidFill>
                <a:latin typeface="Helvetica Neue"/>
              </a:rPr>
              <a:t>Under 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5824727"/>
            <a:ext cx="2779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4A5462"/>
                </a:solidFill>
                <a:latin typeface="Helvetica Neue"/>
              </a:rPr>
              <a:t>Three steps. No Docker, no daemon, no external service.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9976" y="4892040"/>
            <a:ext cx="3218688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5093207"/>
            <a:ext cx="2779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B5FFF"/>
                </a:solidFill>
                <a:latin typeface="Menlo"/>
              </a:rPr>
              <a:t>PRIVILEGES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5422392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D1117"/>
                </a:solidFill>
                <a:latin typeface="Helvetica Neue"/>
              </a:rPr>
              <a:t>Desktop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5824727"/>
            <a:ext cx="2779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4A5462"/>
                </a:solidFill>
                <a:latin typeface="Helvetica Neue"/>
              </a:rPr>
              <a:t>Obsidian desktop; the server binds loopback exclusively.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2712" y="4892040"/>
            <a:ext cx="3218688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DF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5093207"/>
            <a:ext cx="2779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B5FFF"/>
                </a:solidFill>
                <a:latin typeface="Menlo"/>
              </a:rPr>
              <a:t>OPTIONAL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5422392"/>
            <a:ext cx="2779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D1117"/>
                </a:solidFill>
                <a:latin typeface="Helvetica Neue"/>
              </a:rPr>
              <a:t>Skill is portable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5824727"/>
            <a:ext cx="2779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4A5462"/>
                </a:solidFill>
                <a:latin typeface="Helvetica Neue"/>
              </a:rPr>
              <a:t>Already on Hermes or Claude? Skip step 2 entirely.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8A5"/>
                </a:solidFill>
                <a:latin typeface="Menlo"/>
              </a:rPr>
              <a:t>Upsurge · upsurge.ai/augmentiq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5FFF"/>
                </a:solidFill>
                <a:latin typeface="Menlo"/>
              </a:rPr>
              <a:t>Security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D1117"/>
                </a:solidFill>
                <a:latin typeface="Helvetica Neue"/>
              </a:rPr>
              <a:t>Why this is safe to point at a real vault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2194560"/>
          <a:ext cx="1060703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9971"/>
                <a:gridCol w="763706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D1117"/>
                          </a:solidFill>
                          <a:latin typeface="Helvetica Neue"/>
                        </a:rPr>
                        <a:t>Property</a:t>
                      </a:r>
                    </a:p>
                  </a:txBody>
                  <a:tcPr marL="73152" marR="73152" marT="45720" marB="45720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D1117"/>
                          </a:solidFill>
                          <a:latin typeface="Helvetica Neue"/>
                        </a:rPr>
                        <a:t>Mechanism</a:t>
                      </a:r>
                    </a:p>
                  </a:txBody>
                  <a:tcPr marL="73152" marR="73152" marT="45720" marB="45720"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D1117"/>
                          </a:solidFill>
                          <a:latin typeface="Helvetica Neue"/>
                        </a:rPr>
                        <a:t>Network exposure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462"/>
                          </a:solidFill>
                          <a:latin typeface="Helvetica Neue"/>
                        </a:rPr>
                        <a:t>Server binds 127.0.0.1 only. No remote listener, no cloud relay.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D1117"/>
                          </a:solidFill>
                          <a:latin typeface="Helvetica Neue"/>
                        </a:rPr>
                        <a:t>Authentication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462"/>
                          </a:solidFill>
                          <a:latin typeface="Helvetica Neue"/>
                        </a:rPr>
                        <a:t>Auto-generated bearer token, constant-time compared on every request.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D1117"/>
                          </a:solidFill>
                          <a:latin typeface="Helvetica Neue"/>
                        </a:rPr>
                        <a:t>Data at rest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462"/>
                          </a:solidFill>
                          <a:latin typeface="Helvetica Neue"/>
                        </a:rPr>
                        <a:t>Plain files in .augmentiq/ inside your vault — inspectable, backupable, yours.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D1117"/>
                          </a:solidFill>
                          <a:latin typeface="Helvetica Neue"/>
                        </a:rPr>
                        <a:t>Tamper evidence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462"/>
                          </a:solidFill>
                          <a:latin typeface="Helvetica Neue"/>
                        </a:rPr>
                        <a:t>SHA-256 chained audit; verification is a served operation, not a promise.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D1117"/>
                          </a:solidFill>
                          <a:latin typeface="Helvetica Neue"/>
                        </a:rPr>
                        <a:t>Destructive actions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462"/>
                          </a:solidFill>
                          <a:latin typeface="Helvetica Neue"/>
                        </a:rPr>
                        <a:t>Confirm required; vault deletes go to trash; pre-destroy export offered.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D1117"/>
                          </a:solidFill>
                          <a:latin typeface="Helvetica Neue"/>
                        </a:rPr>
                        <a:t>Read-only mode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4A5462"/>
                          </a:solidFill>
                          <a:latin typeface="Helvetica Neue"/>
                        </a:rPr>
                        <a:t>Server rejects every write with -32002 when enabled.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77240" y="5257800"/>
            <a:ext cx="10607040" cy="914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394960"/>
            <a:ext cx="10149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B45309"/>
                </a:solidFill>
                <a:latin typeface="Helvetica Neue"/>
              </a:rPr>
              <a:t>Honest caveat. The bearer token is stored in plaintext in the host config (where other local credentials live), and transport is loopback HTTP, not TLS. Acceptable for a single-user local machine; not a substitute for OS-level access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8A5"/>
                </a:solidFill>
                <a:latin typeface="Menlo"/>
              </a:rPr>
              <a:t>Upsurge · upsurge.ai/augmentiq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5FFF"/>
                </a:solidFill>
                <a:latin typeface="Menlo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D1117"/>
                </a:solidFill>
                <a:latin typeface="Helvetica Neue"/>
              </a:rPr>
              <a:t>What has actually been proven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2194560"/>
          <a:ext cx="576071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4716"/>
                <a:gridCol w="3226003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D1117"/>
                          </a:solidFill>
                          <a:latin typeface="Helvetica Neue"/>
                        </a:rPr>
                        <a:t>Claim</a:t>
                      </a:r>
                    </a:p>
                  </a:txBody>
                  <a:tcPr marL="73152" marR="73152" marT="45720" marB="45720"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0D1117"/>
                          </a:solidFill>
                          <a:latin typeface="Helvetica Neue"/>
                        </a:rPr>
                        <a:t>Result</a:t>
                      </a:r>
                    </a:p>
                  </a:txBody>
                  <a:tcPr marL="73152" marR="73152" marT="45720" marB="45720">
                    <a:solidFill>
                      <a:srgbClr val="F6F8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D1117"/>
                          </a:solidFill>
                          <a:latin typeface="Helvetica Neue"/>
                        </a:rPr>
                        <a:t>Vault plugin installed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462"/>
                          </a:solidFill>
                          <a:latin typeface="Helvetica Neue"/>
                        </a:rPr>
                        <a:t>Live in a real vault since 24 Oct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D1117"/>
                          </a:solidFill>
                          <a:latin typeface="Helvetica Neue"/>
                        </a:rPr>
                        <a:t>Protocol + auth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462"/>
                          </a:solidFill>
                          <a:latin typeface="Helvetica Neue"/>
                        </a:rPr>
                        <a:t>Handshake, 401 enforcement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D1117"/>
                          </a:solidFill>
                          <a:latin typeface="Helvetica Neue"/>
                        </a:rPr>
                        <a:t>Memory round-trip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462"/>
                          </a:solidFill>
                          <a:latin typeface="Helvetica Neue"/>
                        </a:rPr>
                        <a:t>remember → recall → update → forget, on disk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D1117"/>
                          </a:solidFill>
                          <a:latin typeface="Helvetica Neue"/>
                        </a:rPr>
                        <a:t>Audit integrity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462"/>
                          </a:solidFill>
                          <a:latin typeface="Helvetica Neue"/>
                        </a:rPr>
                        <a:t>33 entries, chain verified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D1117"/>
                          </a:solidFill>
                          <a:latin typeface="Helvetica Neue"/>
                        </a:rPr>
                        <a:t>OpenClaw tools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A5462"/>
                          </a:solidFill>
                          <a:latin typeface="Helvetica Neue"/>
                        </a:rPr>
                        <a:t>6 registered and loaded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49440" y="224028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D1117"/>
                </a:solidFill>
                <a:latin typeface="Helvetica Neue"/>
              </a:rPr>
              <a:t>Not yet proven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2697480"/>
            <a:ext cx="4434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4A5462"/>
                </a:solidFill>
                <a:latin typeface="Helvetica Neue"/>
              </a:rPr>
              <a:t>→  Multi-day dogfood across sessions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4A5462"/>
                </a:solidFill>
                <a:latin typeface="Helvetica Neue"/>
              </a:rPr>
              <a:t>→  Second-machine install from clean state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4A5462"/>
                </a:solidFill>
                <a:latin typeface="Helvetica Neue"/>
              </a:rPr>
              <a:t>→  ClawHub distribution + Obsidian listing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4A5462"/>
                </a:solidFill>
                <a:latin typeface="Helvetica Neue"/>
              </a:rPr>
              <a:t>→  Enterprise backend (AugmentIQ+ Docker)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5577840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8B98A5"/>
                </a:solidFill>
                <a:latin typeface="Helvetica Neue"/>
              </a:rPr>
              <a:t>Stated plainly so nobody mistakes a working prototype for a proven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8A5"/>
                </a:solidFill>
                <a:latin typeface="Menlo"/>
              </a:rPr>
              <a:t>Upsurge · upsurge.ai/augmentiq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B5FFF"/>
                </a:solidFill>
                <a:latin typeface="Menlo"/>
              </a:rPr>
              <a:t>Limits and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D1117"/>
                </a:solidFill>
                <a:latin typeface="Helvetica Neue"/>
              </a:rPr>
              <a:t>What v0.1 deliberately does not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D1117"/>
                </a:solidFill>
                <a:latin typeface="Helvetica Neue"/>
              </a:rPr>
              <a:t>Out of scope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51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50">
                <a:solidFill>
                  <a:srgbClr val="4A5462"/>
                </a:solidFill>
                <a:latin typeface="Helvetica Neue"/>
              </a:rPr>
              <a:t>→  Local embeddings — recall is lexical in v0.1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4A5462"/>
                </a:solidFill>
                <a:latin typeface="Helvetica Neue"/>
              </a:rPr>
              <a:t>→  Mobile Obsidian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4A5462"/>
                </a:solidFill>
                <a:latin typeface="Helvetica Neue"/>
              </a:rPr>
              <a:t>→  Org-tier roles and multi-user memory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4A5462"/>
                </a:solidFill>
                <a:latin typeface="Helvetica Neue"/>
              </a:rPr>
              <a:t>→  Compliance packs (GDPR / SOC2 / HIPAA / ISO)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4A5462"/>
                </a:solidFill>
                <a:latin typeface="Helvetica Neue"/>
              </a:rPr>
              <a:t>→  Enterprise Docker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19456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D1117"/>
                </a:solidFill>
                <a:latin typeface="Helvetica Neue"/>
              </a:rPr>
              <a:t>Sequence to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651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50">
                <a:solidFill>
                  <a:srgbClr val="4A5462"/>
                </a:solidFill>
                <a:latin typeface="Helvetica Neue"/>
              </a:rPr>
              <a:t>→  Sustained dogfood on a real vault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4A5462"/>
                </a:solidFill>
                <a:latin typeface="Helvetica Neue"/>
              </a:rPr>
              <a:t>→  ClawHub publish + Obsidian directory submission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4A5462"/>
                </a:solidFill>
                <a:latin typeface="Helvetica Neue"/>
              </a:rPr>
              <a:t>→  Install docs per host, tested from clean state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4A5462"/>
                </a:solidFill>
                <a:latin typeface="Helvetica Neue"/>
              </a:rPr>
              <a:t>→  v1.1: embeddings behind a flag</a:t>
            </a:r>
          </a:p>
          <a:p>
            <a:pPr>
              <a:spcAft>
                <a:spcPts val="900"/>
              </a:spcAft>
            </a:pPr>
            <a:r>
              <a:rPr sz="1250">
                <a:solidFill>
                  <a:srgbClr val="4A5462"/>
                </a:solidFill>
                <a:latin typeface="Helvetica Neue"/>
              </a:rPr>
              <a:t>→  Then enterprise 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120640"/>
            <a:ext cx="10634472" cy="17780"/>
          </a:xfrm>
          <a:prstGeom prst="rect">
            <a:avLst/>
          </a:prstGeom>
          <a:solidFill>
            <a:srgbClr val="DF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440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D1117"/>
                </a:solidFill>
                <a:latin typeface="Helvetica Neue"/>
              </a:rPr>
              <a:t>The product is one plugin. Everything else is an adapter that makes it reachable.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B98A5"/>
                </a:solidFill>
                <a:latin typeface="Helvetica Neue"/>
              </a:rPr>
              <a:t>Keep that hierarchy in view and the roadmap stays honest.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B98A5"/>
                </a:solidFill>
                <a:latin typeface="Menlo"/>
              </a:rPr>
              <a:t>Upsurge · upsurge.ai/augmentiq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